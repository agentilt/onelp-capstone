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OneLP Capstone</a:t>
            </a:r>
          </a:p>
          <a:p>
            <a:pPr algn="l">
              <a:spcAft>
                <a:spcPts val="400"/>
              </a:spcAft>
            </a:pPr>
            <a:r>
              <a:rPr sz="3000" b="0">
                <a:solidFill>
                  <a:srgbClr val="5EEAD4"/>
                </a:solidFill>
                <a:latin typeface="Helvetica Neue"/>
              </a:rPr>
              <a:t>Proof-of-Concept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Helvetica Neue"/>
              </a:rPr>
              <a:t>AI document-intelligence pipeline + portfolio analytics for Limited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Helvetica Neue"/>
              </a:rPr>
              <a:t>Kishan Dhulashia   ·   Max Vanderlinden   ·   Sofia Mollon   ·   Agustin Gentil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Helvetica Neue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Helvetica Neue"/>
              </a:rPr>
              <a:t>Three deliverables — all targets met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520440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52044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Helvetica Neue"/>
              </a:rPr>
              <a:t>DELIVERABLE 1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Helvetica Neue"/>
              </a:rPr>
              <a:t>Extraction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0F172A"/>
                </a:solidFill>
                <a:latin typeface="Helvetica Neue"/>
              </a:rPr>
              <a:t>0.968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Helvetica Neue"/>
              </a:rPr>
              <a:t>Hybrid macro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Helvetica Neue"/>
              </a:rPr>
              <a:t>✓ Target ≥ 0.90  ·  critical-field 0.968 (≥ 0.95)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737360"/>
            <a:ext cx="3520440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737360"/>
            <a:ext cx="352044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0116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Helvetica Neue"/>
              </a:rPr>
              <a:t>DELIVERABLE 2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Helvetica Neue"/>
              </a:rPr>
              <a:t>Forecast Backtest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0175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0F172A"/>
                </a:solidFill>
                <a:latin typeface="Helvetica Neue"/>
              </a:rPr>
              <a:t>5.0%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Helvetica Neue"/>
              </a:rPr>
              <a:t>MAE vs 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343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Helvetica Neue"/>
              </a:rPr>
              <a:t>✓ Target &lt; 15%  ·  1,000-path Monte Carlo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737360"/>
            <a:ext cx="3520440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737360"/>
            <a:ext cx="352044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20116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Helvetica Neue"/>
              </a:rPr>
              <a:t>DELIVERABLE 3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Helvetica Neue"/>
              </a:rPr>
              <a:t>Pipeline &amp;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0175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0F172A"/>
                </a:solidFill>
                <a:latin typeface="Helvetica Neue"/>
              </a:rPr>
              <a:t>24s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Helvetica Neue"/>
              </a:rPr>
              <a:t>End-to-end P50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4343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Helvetica Neue"/>
              </a:rPr>
              <a:t>✓ Target &lt; 30s  ·  P95 29s  ·  ECE 0.056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CONTEXT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The problem &amp;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Helvetica Neue"/>
              </a:rPr>
              <a:t>The problem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Helvetica Neue"/>
              </a:rPr>
              <a:t>LPs &amp; family offices manage private-market portfolios across GP portals, PDFs, emails and spreadsheets — no standard schema.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• 30–40 hours/month of manual reporting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• Missed capital calls &amp; compliance risk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• No real-time exposure / liquidity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212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Helvetica Neue"/>
              </a:rPr>
              <a:t>The OneLP system (3 layers)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1.  Ingestion — 2-stage classify, hybrid OCR+LLM extract, merge, validate, auto-apply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2.  Analytics — Monte Carlo forecasting, J-curve profiles, stress tests, liquidity reserves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3.  Automation — alerts, daily briefing, scheduled reports, AI email drafting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Helvetica Neue"/>
              </a:rPr>
              <a:t>This capstone evaluates the ingestion pipeline (D1, D3) and the analytics engine (D2).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DELIVERABLE 1 · EXTRACTION ACCURACY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Hybrid extraction clears both accuracy targets</a:t>
            </a:r>
          </a:p>
        </p:txBody>
      </p:sp>
      <p:pic>
        <p:nvPicPr>
          <p:cNvPr id="5" name="Picture 4" descr="eng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22" y="1463040"/>
            <a:ext cx="6875194" cy="45262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783080"/>
            <a:ext cx="3977639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783080"/>
            <a:ext cx="63500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56231"/>
            <a:ext cx="36118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Helvetica Neue"/>
              </a:rPr>
              <a:t>0.968</a:t>
            </a:r>
            <a:r>
              <a:rPr sz="1200" b="0">
                <a:solidFill>
                  <a:srgbClr val="64748B"/>
                </a:solidFill>
                <a:latin typeface="Helvetica Neue"/>
              </a:rPr>
              <a:t>  Hybrid macro F1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2834639"/>
            <a:ext cx="3977639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2834639"/>
            <a:ext cx="63500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907791"/>
            <a:ext cx="36118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Helvetica Neue"/>
              </a:rPr>
              <a:t>0.968</a:t>
            </a:r>
            <a:r>
              <a:rPr sz="1200" b="0">
                <a:solidFill>
                  <a:srgbClr val="64748B"/>
                </a:solidFill>
                <a:latin typeface="Helvetica Neue"/>
              </a:rPr>
              <a:t>  Critical-field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886200"/>
            <a:ext cx="3977639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3886200"/>
            <a:ext cx="63500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959352"/>
            <a:ext cx="36118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Helvetica Neue"/>
              </a:rPr>
              <a:t>0.889</a:t>
            </a:r>
            <a:r>
              <a:rPr sz="1200" b="0">
                <a:solidFill>
                  <a:srgbClr val="64748B"/>
                </a:solidFill>
                <a:latin typeface="Helvetica Neue"/>
              </a:rPr>
              <a:t>  Classification acc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Document AI → tables/forms · LLM → narrative · Hybrid → merge precedence (merge.ts). Single engines fail in opposite directions.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DELIVERABLE 1 · EXTRACTION ACCURACY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Accuracy by document type &amp; classification</a:t>
            </a:r>
          </a:p>
        </p:txBody>
      </p:sp>
      <p:pic>
        <p:nvPicPr>
          <p:cNvPr id="5" name="Picture 4" descr="f1_by_documen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74462"/>
            <a:ext cx="5623560" cy="3303435"/>
          </a:xfrm>
          <a:prstGeom prst="rect">
            <a:avLst/>
          </a:prstGeom>
        </p:spPr>
      </p:pic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403" y="1463040"/>
            <a:ext cx="5436017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Hybrid F1 ≥ 0.94 for every type; classification confusions are only between adjacent periodic-report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DELIVERABLE 2 · FORECASTING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Monte Carlo forecast &amp; backtest (MAE 5.0% &lt; 15%)</a:t>
            </a:r>
          </a:p>
        </p:txBody>
      </p:sp>
      <p:pic>
        <p:nvPicPr>
          <p:cNvPr id="5" name="Picture 4" descr="forecast_f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7622"/>
            <a:ext cx="5623560" cy="3997114"/>
          </a:xfrm>
          <a:prstGeom prst="rect">
            <a:avLst/>
          </a:prstGeom>
        </p:spPr>
      </p:pic>
      <p:pic>
        <p:nvPicPr>
          <p:cNvPr id="6" name="Picture 5" descr="backtest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42925"/>
            <a:ext cx="5623560" cy="35665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Engine is a line-for-line port of monte-carlo.ts. Rolling-origin backtest, 20 portfolio-quarter test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DELIVERABLE 2 · FORECASTING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Stress testing &amp; liquidity reserve</a:t>
            </a:r>
          </a:p>
        </p:txBody>
      </p:sp>
      <p:pic>
        <p:nvPicPr>
          <p:cNvPr id="5" name="Picture 4" descr="stress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31007"/>
            <a:ext cx="5623560" cy="3390345"/>
          </a:xfrm>
          <a:prstGeom prst="rect">
            <a:avLst/>
          </a:prstGeom>
        </p:spPr>
      </p:pic>
      <p:pic>
        <p:nvPicPr>
          <p:cNvPr id="6" name="Picture 5" descr="liquidity_rese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90146"/>
            <a:ext cx="5623560" cy="3672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Self-funding in base case; ~$8.1M reserve (95% confidence) needed to survive a Liquidity Crisis.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DELIVERABLE 2 · FORECASTING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Sensitivity — what moves the forecast (±25%)</a:t>
            </a:r>
          </a:p>
        </p:txBody>
      </p:sp>
      <p:pic>
        <p:nvPicPr>
          <p:cNvPr id="5" name="Picture 4" descr="sensitivity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96248"/>
            <a:ext cx="7040880" cy="36598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783080"/>
            <a:ext cx="3977639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783080"/>
            <a:ext cx="63500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56231"/>
            <a:ext cx="36118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Helvetica Neue"/>
              </a:rPr>
              <a:t>±$17M</a:t>
            </a:r>
            <a:r>
              <a:rPr sz="1200" b="0">
                <a:solidFill>
                  <a:srgbClr val="64748B"/>
                </a:solidFill>
                <a:latin typeface="Helvetica Neue"/>
              </a:rPr>
              <a:t>  NAV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2834639"/>
            <a:ext cx="3977639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2834639"/>
            <a:ext cx="63500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907791"/>
            <a:ext cx="36118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Helvetica Neue"/>
              </a:rPr>
              <a:t>±$14M</a:t>
            </a:r>
            <a:r>
              <a:rPr sz="1200" b="0">
                <a:solidFill>
                  <a:srgbClr val="64748B"/>
                </a:solidFill>
                <a:latin typeface="Helvetica Neue"/>
              </a:rPr>
              <a:t>  Distribution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886200"/>
            <a:ext cx="3977639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3886200"/>
            <a:ext cx="63500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959352"/>
            <a:ext cx="36118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Helvetica Neue"/>
              </a:rPr>
              <a:t>±$5M</a:t>
            </a:r>
            <a:r>
              <a:rPr sz="1200" b="0">
                <a:solidFill>
                  <a:srgbClr val="64748B"/>
                </a:solidFill>
                <a:latin typeface="Helvetica Neue"/>
              </a:rPr>
              <a:t>  Capital-call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NAV level and distribution pacing dominate; call timing matters ~3× less for a mostly-deployed 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DELIVERABLE 2 · FORECASTING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Cross-asset correlation widens the tails (+39% σ)</a:t>
            </a:r>
          </a:p>
        </p:txBody>
      </p:sp>
      <p:pic>
        <p:nvPicPr>
          <p:cNvPr id="5" name="Picture 4" descr="correlatio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001" y="1463040"/>
            <a:ext cx="9127517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Cholesky correlation reduces diversification on a one-per-class demo — but no-ops on the full 16-fund book (singular matrix, monte-carlo.ts:336-341): a documented fix.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DELIVERABLE 3 · PIPELINE ANALYSIS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Confidence calibration &amp; auto-apply thresholds</a:t>
            </a:r>
          </a:p>
        </p:txBody>
      </p:sp>
      <p:pic>
        <p:nvPicPr>
          <p:cNvPr id="5" name="Picture 4" descr="reliabil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60237"/>
            <a:ext cx="5623560" cy="3931886"/>
          </a:xfrm>
          <a:prstGeom prst="rect">
            <a:avLst/>
          </a:prstGeom>
        </p:spPr>
      </p:pic>
      <p:pic>
        <p:nvPicPr>
          <p:cNvPr id="6" name="Picture 5" descr="threshold_operat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65407"/>
            <a:ext cx="5623560" cy="37215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Conservatively calibrated (under-states reliability) → thresholds can be relaxed after a calibration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DELIVERABLE 3 · PIPELINE ANALYSIS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Latency meets target: P50 24s / P95 29s (Metric 3)</a:t>
            </a:r>
          </a:p>
        </p:txBody>
      </p:sp>
      <p:pic>
        <p:nvPicPr>
          <p:cNvPr id="5" name="Picture 4" descr="latenc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333" y="1463040"/>
            <a:ext cx="9116853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Targets P50 &lt; 30s / P95 &lt; 90s — both met. Document AI + LLM run in parallel, so extraction cost is the slower engine, not the sum.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elvetica Neue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Architecture choices are evidence-backed.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Helvetica Neue"/>
              </a:rPr>
              <a:t>Hybrid extraction and Monte Carlo each beat the simpler alternative on the metric that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51759"/>
            <a:ext cx="109728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39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The system is honest about uncertainty.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Helvetica Neue"/>
              </a:rPr>
              <a:t>Conservatively calibrated (ECE 0.056); classification errors are 'safe' adjacent-type confusions.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03320"/>
            <a:ext cx="109728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599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Two concrete fixes carry forward.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Helvetica Neue"/>
              </a:rPr>
              <a:t>Widen forecast intervals (65% coverage of an 80% band); regularize the correlation matrix.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54879"/>
            <a:ext cx="109728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Production numbers are wired.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Helvetica Neue"/>
              </a:rPr>
              <a:t>Every metric recomputes unchanged against live extractions / real cash flows — only inputs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