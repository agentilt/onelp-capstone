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30-second hook: LPs and family offices drown in PDFs and spreadsheets. OneLP is the AI-native system that turns that mess into real-time portfolio intelligence and automated workflows. We have a live product, 7 pilots and €5B+ AUM behind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TEAM: replace the placeholder bios with each founder's specific role (CEO/CTO/etc.) and one credibility line (prior experience, relevant domain). Keep it to ~10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on the pain: a sophisticated LP with hundreds of millions committed still tracks capital calls in a spreadsheet. Quantify it: 30–40 hours/month. That is the wedge.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TEAM: insert TAM/SAM/SOM figures with one cited source each (Preqin, Campden Wealth, Deloitte family-office reports). Keep the funnel logic explicit. The €5B+ pilot AUM is real evidence of demand — lead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verbs: Ingest → Understand → Act. Stress the interpretation layer — that is what differentiates us from pure extraction (Canoe) and pure monitoring (Cobalt/Chronograph).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fight incumbents on their strong ground (breadth, extraction). Win on interpretation, decisions, EU compliance, and explainability. The last row is OneLP.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is the centerpiece. Rehearse the 5-step flow on a seeded demo account. Always have a recorded fallback video. Keep narration tied to the LP's pain: 'this used to take an analyst an afternoon — now it's 30 seconds and fully auditable.'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capstone's core technical contribution. Walk the 5 stages. Emphasise the parallel hybrid extraction and the evidence tracking — that is what makes it trustworthy for financial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layers, ingestion at the core. Mention: Next.js/React/TypeScript, Prisma/Postgres, Google Document AI + Vertex Gemini, Cloud Run + Cloud Tasks. Accepted into Google Cloud for Startups (infra funded).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 is the only engine clearing both F1 bars. The two single engines fail in opposite directions — that is WHY we merge. This is real evaluation, not a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Monte Carlo with cross-asset correlation; backtested against held-out quarters at 5.0% MAE. Also: 7 stress scenarios + liquidity-reserve sizing (~€8M reserve to survive a liquidity crisis).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analytical maturity: we measured calibration (ECE), found the model is conservative, and we are honest about a real limitation (correlation fallback). Panels in a data-analytics program reward this kind of rigor.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traction — it de-risks everything. 7 pilots / €5B+ AUM / Google Cloud / accelerator / award. TEAM: confirm pilot count is current and add any new logos or LOIs.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Land-and-expand SaaS. Pilots convert to paid annual contracts. TEAM: confirm pricing is current vs the Notion source of truth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Pure-SaaS margins, LTV:CAC well above 3x every year, payback under a year. Path to profitability in 2030. TEAM: these are modeled projections — validate assumptions and note they update with actuals as pilots convert.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TEAM: the customer + current motion is real (pilot program, FO warm intros). Build out the scale-up GTM: channels, sales cycle, conversion rates from pilot data, expansion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is real and shipped. NEXT maps to the competitor wedges (fee verification, ILPA, pacing, EU compliance). TEAM: confirm sequencing and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ask: €300K now (23 months), €750K seed mid-2027 to profitability. Use of funds = product, 3 hires, pilot conversion. TEAM: confirm amount/valuation/instrument — these are the team's call and must be current.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trifecta: real AI + real clients + real measurement. Invite technical questions — the appendix deck (OneLP-Capstone-Deliverables) has the deep 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36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5200" b="1">
                <a:solidFill>
                  <a:srgbClr val="FFFFFF"/>
                </a:solidFill>
                <a:latin typeface="Helvetica Neue"/>
              </a:rPr>
              <a:t>OneLP</a:t>
            </a:r>
          </a:p>
          <a:p>
            <a:pPr algn="l">
              <a:spcAft>
                <a:spcPts val="500"/>
              </a:spcAft>
            </a:pPr>
            <a:r>
              <a:rPr sz="2400" b="0">
                <a:solidFill>
                  <a:srgbClr val="5EEAD4"/>
                </a:solidFill>
                <a:latin typeface="Helvetica Neue"/>
              </a:rPr>
              <a:t>The AI-native operating system for Limited Partners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CBD5E1"/>
                </a:solidFill>
                <a:latin typeface="Helvetica Neue"/>
              </a:rPr>
              <a:t>Turning fragmented private-market documents into structured intelligence, predictive insight, and automated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CBD5E1"/>
                </a:solidFill>
                <a:latin typeface="Helvetica Neue"/>
              </a:rPr>
              <a:t>Kishan Dhulashia · Max Vanderlinden · Sofia Mollon · Agustin Gentil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Venture Capstone · IE School of Science &amp; Technology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WHO WE ARE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606040" cy="2743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72768" y="2057400"/>
            <a:ext cx="731520" cy="7315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97180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Helvetica Neue"/>
              </a:rPr>
              <a:t>Kishan Dhulashia</a:t>
            </a:r>
          </a:p>
          <a:p>
            <a:pPr algn="ctr"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Helvetica Neue"/>
              </a:rPr>
              <a:t>Co-founder</a:t>
            </a:r>
          </a:p>
          <a:p>
            <a:pPr algn="ctr">
              <a:spcAft>
                <a:spcPts val="500"/>
              </a:spcAft>
            </a:pPr>
            <a:r>
              <a:rPr sz="1050" b="0">
                <a:solidFill>
                  <a:srgbClr val="64748B"/>
                </a:solidFill>
                <a:latin typeface="Helvetica Neue"/>
              </a:rPr>
              <a:t>[role / background — TEAM]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856" y="1737360"/>
            <a:ext cx="2606040" cy="2743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9856" y="173736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52544" y="2057400"/>
            <a:ext cx="731520" cy="7315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2736" y="297180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Helvetica Neue"/>
              </a:rPr>
              <a:t>Max Vanderlinden</a:t>
            </a:r>
          </a:p>
          <a:p>
            <a:pPr algn="ctr"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Helvetica Neue"/>
              </a:rPr>
              <a:t>Co-founder</a:t>
            </a:r>
          </a:p>
          <a:p>
            <a:pPr algn="ctr">
              <a:spcAft>
                <a:spcPts val="500"/>
              </a:spcAft>
            </a:pPr>
            <a:r>
              <a:rPr sz="1050" b="0">
                <a:solidFill>
                  <a:srgbClr val="64748B"/>
                </a:solidFill>
                <a:latin typeface="Helvetica Neue"/>
              </a:rPr>
              <a:t>[role / background — TEAM]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737360"/>
            <a:ext cx="2606040" cy="2743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73736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32320" y="2057400"/>
            <a:ext cx="731520" cy="7315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97180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Helvetica Neue"/>
              </a:rPr>
              <a:t>Sofia Mollon</a:t>
            </a:r>
          </a:p>
          <a:p>
            <a:pPr algn="ctr"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Helvetica Neue"/>
              </a:rPr>
              <a:t>Co-founder</a:t>
            </a:r>
          </a:p>
          <a:p>
            <a:pPr algn="ctr">
              <a:spcAft>
                <a:spcPts val="500"/>
              </a:spcAft>
            </a:pPr>
            <a:r>
              <a:rPr sz="1050" b="0">
                <a:solidFill>
                  <a:srgbClr val="64748B"/>
                </a:solidFill>
                <a:latin typeface="Helvetica Neue"/>
              </a:rPr>
              <a:t>[role / background — TEAM]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9408" y="1737360"/>
            <a:ext cx="2606040" cy="2743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79408" y="173736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912096" y="2057400"/>
            <a:ext cx="731520" cy="7315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288" y="2971800"/>
            <a:ext cx="2286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>
                <a:solidFill>
                  <a:srgbClr val="0F172A"/>
                </a:solidFill>
                <a:latin typeface="Helvetica Neue"/>
              </a:rPr>
              <a:t>Agustin Gentil</a:t>
            </a:r>
          </a:p>
          <a:p>
            <a:pPr algn="ctr">
              <a:spcAft>
                <a:spcPts val="500"/>
              </a:spcAft>
            </a:pPr>
            <a:r>
              <a:rPr sz="1200" b="1">
                <a:solidFill>
                  <a:srgbClr val="0D9488"/>
                </a:solidFill>
                <a:latin typeface="Helvetica Neue"/>
              </a:rPr>
              <a:t>Co-founder</a:t>
            </a:r>
          </a:p>
          <a:p>
            <a:pPr algn="ctr">
              <a:spcAft>
                <a:spcPts val="500"/>
              </a:spcAft>
            </a:pPr>
            <a:r>
              <a:rPr sz="1050" b="0">
                <a:solidFill>
                  <a:srgbClr val="64748B"/>
                </a:solidFill>
                <a:latin typeface="Helvetica Neue"/>
              </a:rPr>
              <a:t>[role / background — TEAM]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34155"/>
                </a:solidFill>
                <a:latin typeface="Helvetica Neue"/>
              </a:rPr>
              <a:t>IE School of Science &amp; Technology — MSc in Business Analytics &amp; Big Data. Combined background across data science, software engineering, and private markets.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42855" y="384048"/>
            <a:ext cx="1828800" cy="38404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TEAM TO COMPLETE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PROBLEM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LPs run multi-million-euro portfolios on PDFs and email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6858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334155"/>
                </a:solidFill>
                <a:latin typeface="Helvetica Neue"/>
              </a:rPr>
              <a:t>•  Private-market portfolios are managed across fragmented systems — GP portals, PDFs, emails, spreadsheets — with no standard data schema.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Helvetica Neue"/>
              </a:rPr>
              <a:t>Consequences for every LP and family office: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Helvetica Neue"/>
              </a:rPr>
              <a:t>      –  30–40 hours/month of manual reporting per family office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Helvetica Neue"/>
              </a:rPr>
              <a:t>      –  Missed capital calls → late-payment penalties &amp; compliance risk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Helvetica Neue"/>
              </a:rPr>
              <a:t>      –  No real-time view of exposure, concentration, or liquidity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4155"/>
                </a:solidFill>
                <a:latin typeface="Helvetica Neue"/>
              </a:rPr>
              <a:t>      –  5+ disconnected tools to assemble one portfolio picture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Helvetica Neue"/>
              </a:rPr>
              <a:t>The real problem is not aggregation — it is operationalizing unstructured, multi-source financial data into real-time, actionable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074920"/>
            <a:ext cx="260604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507492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5239512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F172A"/>
                </a:solidFill>
                <a:latin typeface="Helvetica Neue"/>
              </a:rPr>
              <a:t>30–40h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334155"/>
                </a:solidFill>
                <a:latin typeface="Helvetica Neue"/>
              </a:rPr>
              <a:t>manual reporting / month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4748B"/>
                </a:solidFill>
                <a:latin typeface="Helvetica Neue"/>
              </a:rPr>
              <a:t>per family office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5074920"/>
            <a:ext cx="260604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93008" y="507492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5239512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F172A"/>
                </a:solidFill>
                <a:latin typeface="Helvetica Neue"/>
              </a:rPr>
              <a:t>5+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334155"/>
                </a:solidFill>
                <a:latin typeface="Helvetica Neue"/>
              </a:rPr>
              <a:t>fragmented tools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4748B"/>
                </a:solidFill>
                <a:latin typeface="Helvetica Neue"/>
              </a:rPr>
              <a:t>to replace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5074920"/>
            <a:ext cx="260604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45936" y="507492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5239512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F172A"/>
                </a:solidFill>
                <a:latin typeface="Helvetica Neue"/>
              </a:rPr>
              <a:t>16+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334155"/>
                </a:solidFill>
                <a:latin typeface="Helvetica Neue"/>
              </a:rPr>
              <a:t>GP document formats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4748B"/>
                </a:solidFill>
                <a:latin typeface="Helvetica Neue"/>
              </a:rPr>
              <a:t>no standard schema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WHY THIS MATTERS · MARKET SIZE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Market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937760" cy="11430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93392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Helvetica Neue"/>
              </a:rPr>
              <a:t>TAM   [€ — TEAM]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Helvetica Neue"/>
              </a:rPr>
              <a:t>Global private-markets / LP software spend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54680"/>
            <a:ext cx="4937760" cy="11430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319272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Helvetica Neue"/>
              </a:rPr>
              <a:t>SAM   [€ — TEAM]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Helvetica Neue"/>
              </a:rPr>
              <a:t>EU family offices, MFOs &amp; LPs (target segments)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480560"/>
            <a:ext cx="4937760" cy="1143000"/>
          </a:xfrm>
          <a:prstGeom prst="round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645152"/>
            <a:ext cx="4572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0F172A"/>
                </a:solidFill>
                <a:latin typeface="Helvetica Neue"/>
              </a:rPr>
              <a:t>SOM   [€ — TEAM]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F172A"/>
                </a:solidFill>
                <a:latin typeface="Helvetica Neue"/>
              </a:rPr>
              <a:t>Reachable in 3 yrs via pilot network &amp; GTM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288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Helvetica Neue"/>
              </a:rPr>
              <a:t>Sizing methodology (TEAM to complete):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      –  TAM = # LPs/family offices globally × annual software &amp; data spend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      –  SAM = EU SFO + MFO + LP segments OneLP can serve today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      –  SOM = realistic 3-yr capture given pilot pipeline &amp; GTM capacity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Helvetica Neue"/>
              </a:rPr>
              <a:t>Evidence of demand (have):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      –  7 active pilots representing €5B+ aggregate AUM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      –  Family-office wealth growing; private-markets allocations rising</a:t>
            </a:r>
          </a:p>
          <a:p>
            <a:pPr>
              <a:spcAft>
                <a:spcPts val="800"/>
              </a:spcAft>
            </a:pPr>
            <a:r>
              <a:rPr sz="1150" b="0">
                <a:solidFill>
                  <a:srgbClr val="64748B"/>
                </a:solidFill>
                <a:latin typeface="Helvetica Neue"/>
              </a:rPr>
              <a:t>      –  Sources to cite: Preqin / Campden Wealth / Deloitte FO 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42855" y="384048"/>
            <a:ext cx="1828800" cy="38404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TEAM TO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VALUE PROPOSITION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From fragmented documents to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66160" cy="3291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566160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1 ·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3172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AI document pipeline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16+ doc types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OCR + LLM hybrid extraction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Field-level evidence &amp; audit trail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691640"/>
            <a:ext cx="3566160" cy="3291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691640"/>
            <a:ext cx="356616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73736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 · 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33172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Real-time NAV / IRR / TVPI / DPI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Exposure &amp; concentration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Monte Carlo cash-flow forecasting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Stress tests &amp; liquidity reserves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691640"/>
            <a:ext cx="3566160" cy="3291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691640"/>
            <a:ext cx="3566160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737360"/>
            <a:ext cx="3108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3 ·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331720"/>
            <a:ext cx="3154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Capital-call alerts &amp; tracking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AI daily briefing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Scheduled reports</a:t>
            </a:r>
          </a:p>
          <a:p>
            <a:pPr>
              <a:spcAft>
                <a:spcPts val="6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AI email drafting to GPs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578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334155"/>
                </a:solidFill>
                <a:latin typeface="Helvetica Neue"/>
              </a:rPr>
              <a:t>The wedge: an </a:t>
            </a:r>
            <a:r>
              <a:rPr sz="1400" b="1">
                <a:solidFill>
                  <a:srgbClr val="0D9488"/>
                </a:solidFill>
                <a:latin typeface="Helvetica Neue"/>
              </a:rPr>
              <a:t>LP interpretation &amp; decision layer</a:t>
            </a:r>
            <a:r>
              <a:rPr sz="1400" b="0">
                <a:solidFill>
                  <a:srgbClr val="334155"/>
                </a:solidFill>
                <a:latin typeface="Helvetica Neue"/>
              </a:rPr>
              <a:t> above generic monitoring — not 'we store your data', but 'we turn reports, notices and LPAs into verified answers, alerts and decisions'.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EXISTING SOLUTIONS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Competitive landscape &amp; differentiation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468880"/>
                <a:gridCol w="3200400"/>
                <a:gridCol w="310896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Player</a:t>
                      </a:r>
                    </a:p>
                  </a:txBody>
                  <a:tcPr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Category</a:t>
                      </a:r>
                    </a:p>
                  </a:txBody>
                  <a:tcPr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Strong at</a:t>
                      </a:r>
                    </a:p>
                  </a:txBody>
                  <a:tcPr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Gap OneLP exploits</a:t>
                      </a:r>
                    </a:p>
                  </a:txBody>
                  <a:tcPr marT="25400" marB="25400">
                    <a:solidFill>
                      <a:srgbClr val="0F17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Helvetica Neue"/>
                        </a:rPr>
                        <a:t>eFront / iLEVEL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Enterprise platforms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Breadth, institutional scale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Heavy, not LP-opinionated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Helvetica Neue"/>
                        </a:rPr>
                        <a:t>Chronograph / Cobalt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Monitoring + reporting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Dashboards, doc-aware AI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Monitoring, not decisions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Helvetica Neue"/>
                        </a:rPr>
                        <a:t>Canoe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Doc extraction layer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Collection &amp; extraction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Plumbing, not intelligence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Helvetica Neue"/>
                        </a:rPr>
                        <a:t>OneLP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LP intelligence layer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Interpret · forecast · automate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EU-ready, explainable, fast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754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0F172A"/>
                </a:solidFill>
                <a:latin typeface="Helvetica Neue"/>
              </a:rPr>
              <a:t>Our four defensible wedges: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Helvetica Neue"/>
              </a:rPr>
              <a:t>      –  (1) LP interpretation layer — fees, waterfall, valuation, 'what changed' in plain language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Helvetica Neue"/>
              </a:rPr>
              <a:t>      –  (2) Decision workflows — pacing, liquidity, commitment recommendations (not just dashboards)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Helvetica Neue"/>
              </a:rPr>
              <a:t>      –  (3) Europe-ready compliance — AIFMD / SFDR / DORA built in, not bolted on</a:t>
            </a:r>
          </a:p>
          <a:p>
            <a:pPr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Helvetica Neue"/>
              </a:rPr>
              <a:t>      –  (4) Explainable, source-linked AI + faster time-to-value for lean LP teams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PRODUCT · MVP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Live product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0515600" cy="310896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005840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5EEAD4"/>
                </a:solidFill>
                <a:latin typeface="Helvetica Neue"/>
              </a:rPr>
              <a:t>▶  LIVE DEMO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Helvetica Neue"/>
              </a:rPr>
              <a:t>Demo flow (≈4 min):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Helvetica Neue"/>
              </a:rPr>
              <a:t>1.  Upload a real GP capital-call PDF → watch the pipeline classify &amp; extract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Helvetica Neue"/>
              </a:rPr>
              <a:t>2.  Review queue: click-to-highlight evidence on each extracted field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Helvetica Neue"/>
              </a:rPr>
              <a:t>3.  Auto-apply to fund records → NAV / metrics / capital-call notice update live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Helvetica Neue"/>
              </a:rPr>
              <a:t>4.  Dashboard: exposure, liquidity, concentration update in real time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CBD5E1"/>
                </a:solidFill>
                <a:latin typeface="Helvetica Neue"/>
              </a:rPr>
              <a:t>5.  Forecasting tab: Monte Carlo bands, stress tests, daily AI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CBD5E1"/>
                </a:solidFill>
                <a:latin typeface="Helvetica Neue"/>
              </a:rPr>
              <a:t>Live at the deployed platform · demo accounts seeded (Huergo FO, F3 Finance MFO, Atlas MFO). Fallback: recorded screen-capture if connectivity fails.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54335" y="384048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BUILT &amp;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PRODUCT · CORE ENGINE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Document extraction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2286000" cy="74980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19072"/>
            <a:ext cx="21031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1 · 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682496"/>
            <a:ext cx="8412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Helvetica Neue"/>
              </a:rPr>
              <a:t>Two-stage classification: filename/context heuristic (early-exit ≥0.70) → Gemini LLM across 16+ doc 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2286000" cy="74980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21031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2 · 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551176"/>
            <a:ext cx="8412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Helvetica Neue"/>
              </a:rPr>
              <a:t>Document AI (tables/forms, bounding boxes) + LLM (narrative) run in PARALLEL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83280"/>
            <a:ext cx="2286000" cy="74980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56432"/>
            <a:ext cx="21031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3 · MERGE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419856"/>
            <a:ext cx="8412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Helvetica Neue"/>
              </a:rPr>
              <a:t>Precedence-based conflict resolution (parser &gt;0.85 wins, else LLM); conflicts logged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51960"/>
            <a:ext cx="2286000" cy="74980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25112"/>
            <a:ext cx="21031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4 · 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4288536"/>
            <a:ext cx="8412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Helvetica Neue"/>
              </a:rPr>
              <a:t>Schema + per-type confidence thresholds (0.70–0.95); low-confidence fields flagged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120640"/>
            <a:ext cx="2286000" cy="74980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93792"/>
            <a:ext cx="210312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5 · APPLY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5157216"/>
            <a:ext cx="8412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334155"/>
                </a:solidFill>
                <a:latin typeface="Helvetica Neue"/>
              </a:rPr>
              <a:t>High-confidence → auto-apply to fund records; else → human review queue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Every field carries raw text, confidence, page number and bounding box → full auditability and click-to-highlight verification.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54335" y="384048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BUILT &amp;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TECHNICAL IMPLEMENTATION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645920"/>
            <a:ext cx="9235440" cy="786384"/>
          </a:xfrm>
          <a:prstGeom prst="round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1640" y="1700784"/>
            <a:ext cx="886968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F172A"/>
                </a:solidFill>
                <a:latin typeface="Helvetica Neue"/>
              </a:rPr>
              <a:t>APPLICATION   </a:t>
            </a:r>
            <a:r>
              <a:rPr sz="1150" b="0">
                <a:solidFill>
                  <a:srgbClr val="0F172A"/>
                </a:solidFill>
                <a:latin typeface="Helvetica Neue"/>
              </a:rPr>
              <a:t>Dashboard · review queue · daily briefing · workflow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523744"/>
            <a:ext cx="9235440" cy="786384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578608"/>
            <a:ext cx="886968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WORKFLOW AUTOMATION   </a:t>
            </a:r>
            <a:r>
              <a:rPr sz="1150" b="0">
                <a:solidFill>
                  <a:srgbClr val="FFFFFF"/>
                </a:solidFill>
                <a:latin typeface="Helvetica Neue"/>
              </a:rPr>
              <a:t>Async task queue · scheduled exports · alert engine · AI email drafting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401568"/>
            <a:ext cx="9235440" cy="786384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3456432"/>
            <a:ext cx="886968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ANALYTICS   </a:t>
            </a:r>
            <a:r>
              <a:rPr sz="1150" b="0">
                <a:solidFill>
                  <a:srgbClr val="FFFFFF"/>
                </a:solidFill>
                <a:latin typeface="Helvetica Neue"/>
              </a:rPr>
              <a:t>Monte Carlo · stress testing · liquidity reserve · J-curve profiles · explainability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4279392"/>
            <a:ext cx="9235440" cy="786384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4334255"/>
            <a:ext cx="886968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PROCESSING / INGESTION   </a:t>
            </a:r>
            <a:r>
              <a:rPr sz="1150" b="0">
                <a:solidFill>
                  <a:srgbClr val="FFFFFF"/>
                </a:solidFill>
                <a:latin typeface="Helvetica Neue"/>
              </a:rPr>
              <a:t>Classification · hybrid extraction · merge · validation · auto-apply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5157216"/>
            <a:ext cx="9235440" cy="786384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91640" y="5212079"/>
            <a:ext cx="886968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</a:rPr>
              <a:t>STORAGE   </a:t>
            </a:r>
            <a:r>
              <a:rPr sz="1150" b="0">
                <a:solidFill>
                  <a:srgbClr val="FFFFFF"/>
                </a:solidFill>
                <a:latin typeface="Helvetica Neue"/>
              </a:rPr>
              <a:t>PostgreSQL (structured) · Cloud Storage (documents) · cache (forecasts)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64748B"/>
                </a:solidFill>
                <a:latin typeface="Helvetica Neue"/>
              </a:rPr>
              <a:t>Cloud-native on Google Cloud · multi-tenant isolation (clientId) · field-level auditability · RBAC (LP read-only) · async processing · Sentry observability.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54335" y="384048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BUILT &amp;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TECHNICAL · DATA SCIENCE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ML/DS #1 — extraction accuracy (hybrid beats either engine)</a:t>
            </a:r>
          </a:p>
        </p:txBody>
      </p:sp>
      <p:pic>
        <p:nvPicPr>
          <p:cNvPr id="5" name="Picture 4" descr="eng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22" y="1463040"/>
            <a:ext cx="6875194" cy="452627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818120" y="1783080"/>
            <a:ext cx="3977639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783080"/>
            <a:ext cx="64008" cy="1097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1892807"/>
            <a:ext cx="352043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F172A"/>
                </a:solidFill>
                <a:latin typeface="Helvetica Neue"/>
              </a:rPr>
              <a:t>0.968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334155"/>
                </a:solidFill>
                <a:latin typeface="Helvetica Neue"/>
              </a:rPr>
              <a:t>Hybrid macro F1</a:t>
            </a:r>
            <a:r>
              <a:rPr sz="1050" b="0">
                <a:solidFill>
                  <a:srgbClr val="64748B"/>
                </a:solidFill>
                <a:latin typeface="Helvetica Neue"/>
              </a:rPr>
              <a:t>   target ≥ 0.90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990088"/>
            <a:ext cx="3977639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818120" y="2990088"/>
            <a:ext cx="64008" cy="1097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152" y="3099816"/>
            <a:ext cx="352043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F172A"/>
                </a:solidFill>
                <a:latin typeface="Helvetica Neue"/>
              </a:rPr>
              <a:t>0.968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334155"/>
                </a:solidFill>
                <a:latin typeface="Helvetica Neue"/>
              </a:rPr>
              <a:t>Critical-field F1</a:t>
            </a:r>
            <a:r>
              <a:rPr sz="1050" b="0">
                <a:solidFill>
                  <a:srgbClr val="64748B"/>
                </a:solidFill>
                <a:latin typeface="Helvetica Neue"/>
              </a:rPr>
              <a:t>   target ≥ 0.95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4197096"/>
            <a:ext cx="3977639" cy="10972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4197096"/>
            <a:ext cx="64008" cy="10972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74152" y="4306824"/>
            <a:ext cx="3520439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F172A"/>
                </a:solidFill>
                <a:latin typeface="Helvetica Neue"/>
              </a:rPr>
              <a:t>0.889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334155"/>
                </a:solidFill>
                <a:latin typeface="Helvetica Neue"/>
              </a:rPr>
              <a:t>Doc-type accuracy</a:t>
            </a:r>
            <a:r>
              <a:rPr sz="1050" b="0">
                <a:solidFill>
                  <a:srgbClr val="64748B"/>
                </a:solidFill>
                <a:latin typeface="Helvetica Neue"/>
              </a:rPr>
              <a:t>   8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825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54-doc labeled set · Document AI (tables/forms) + LLM (narrative) merged with precedence. Evaluation Metric 1 met.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54335" y="384048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BUILT &amp; VERIFIED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TECHNICAL · DATA SCIENCE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ML/DS #2 — forecasting &amp; backtest (MAE 5.0% &lt; 15%)</a:t>
            </a:r>
          </a:p>
        </p:txBody>
      </p:sp>
      <p:pic>
        <p:nvPicPr>
          <p:cNvPr id="5" name="Picture 4" descr="forecast_fa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27622"/>
            <a:ext cx="5623560" cy="3997114"/>
          </a:xfrm>
          <a:prstGeom prst="rect">
            <a:avLst/>
          </a:prstGeom>
        </p:spPr>
      </p:pic>
      <p:pic>
        <p:nvPicPr>
          <p:cNvPr id="6" name="Picture 5" descr="backtest_v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942925"/>
            <a:ext cx="5623560" cy="35665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3825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1,000-path Monte Carlo (Cholesky cross-asset correlation) · rolling-origin backtest, 20 portfolio-quarter points · Evaluation Metric 2 met.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54335" y="384048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BUILT &amp; VERIFIED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TECHNICAL · DATA SCIENCE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ML/DS #3 — calibration, approach rationale &amp; lessons</a:t>
            </a:r>
          </a:p>
        </p:txBody>
      </p:sp>
      <p:pic>
        <p:nvPicPr>
          <p:cNvPr id="5" name="Picture 4" descr="reliabilit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07999"/>
            <a:ext cx="5029200" cy="35163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0" y="1554480"/>
            <a:ext cx="5943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Why these choices: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Helvetica Neue"/>
              </a:rPr>
              <a:t>      –  Hybrid extraction — parser excels at tables, LLM at narrative; merge captures both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Helvetica Neue"/>
              </a:rPr>
              <a:t>      –  Monte Carlo over closed-form — captures tail risk &amp; cross-asset correlation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Helvetica Neue"/>
              </a:rPr>
              <a:t>      –  Per-type confidence thresholds — capital calls need 0.85, reports tolerate 0.70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Helvetica Neue"/>
              </a:rPr>
              <a:t>Challenges &amp; lessons learned: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Helvetica Neue"/>
              </a:rPr>
              <a:t>      –  Pipeline is conservatively calibrated (ECE 0.056) — under-states reliability → thresholds can be safely relaxed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Helvetica Neue"/>
              </a:rPr>
              <a:t>      –  Correlation matrix goes singular on multi-fund books → engine falls back to independent simulation (documented; fix = regularize matrix)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Helvetica Neue"/>
              </a:rPr>
              <a:t>      –  End-to-end latency P50 24s / P95 29s — parallel extraction is the key design choice (Metric 3 met)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54335" y="384048"/>
            <a:ext cx="1417320" cy="384048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BUILT &amp; VERIFIED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EVIDENCE OF DEMAND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Traction &amp; market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60604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56232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F172A"/>
                </a:solidFill>
                <a:latin typeface="Helvetica Neue"/>
              </a:rPr>
              <a:t>7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334155"/>
                </a:solidFill>
                <a:latin typeface="Helvetica Neue"/>
              </a:rPr>
              <a:t>active pilots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4748B"/>
                </a:solidFill>
                <a:latin typeface="Helvetica Neue"/>
              </a:rPr>
              <a:t>SFOs · MFOs · LPs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1691640"/>
            <a:ext cx="260604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93008" y="169164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4176" y="1856232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F172A"/>
                </a:solidFill>
                <a:latin typeface="Helvetica Neue"/>
              </a:rPr>
              <a:t>€5B+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334155"/>
                </a:solidFill>
                <a:latin typeface="Helvetica Neue"/>
              </a:rPr>
              <a:t>aggregate AUM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4748B"/>
                </a:solidFill>
                <a:latin typeface="Helvetica Neue"/>
              </a:rPr>
              <a:t>across pilots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45936" y="1691640"/>
            <a:ext cx="260604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45936" y="169164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1856232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F172A"/>
                </a:solidFill>
                <a:latin typeface="Helvetica Neue"/>
              </a:rPr>
              <a:t>Top 3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334155"/>
                </a:solidFill>
                <a:latin typeface="Helvetica Neue"/>
              </a:rPr>
              <a:t>of 140+ startups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4748B"/>
                </a:solidFill>
                <a:latin typeface="Helvetica Neue"/>
              </a:rPr>
              <a:t>IE Venture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Helvetica Neue"/>
              </a:rPr>
              <a:t>•  Live, deployed product with active users iterating in feedback loops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Helvetica Neue"/>
              </a:rPr>
              <a:t>•  Live pilot deals: F3 Finance (Belgian MFO) · BEMO Group (SFO) — signed pilot terms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Helvetica Neue"/>
              </a:rPr>
              <a:t>Institutional support: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Helvetica Neue"/>
              </a:rPr>
              <a:t>      –  Google Cloud for Startups — accepted &amp; funded (infrastructure &amp; architecture costs)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Helvetica Neue"/>
              </a:rPr>
              <a:t>      –  LvlUp Labs Venture Accelerator — selected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34155"/>
                </a:solidFill>
                <a:latin typeface="Helvetica Neue"/>
              </a:rPr>
              <a:t>      –  Best Startup — IE School of Science &amp; Technology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334155"/>
                </a:solidFill>
                <a:latin typeface="Helvetica Neue"/>
              </a:rPr>
              <a:t>•  Demo accounts span real client archetypes (Huergo FO, Atlas MFO, F3 Finance)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65615" y="384048"/>
            <a:ext cx="260604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DRAFT · from repo — validate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REVENUE MODEL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Business model — six-tier SaaS pricing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73152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92024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Tier</a:t>
                      </a:r>
                    </a:p>
                  </a:txBody>
                  <a:tcPr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Annual (EUR)</a:t>
                      </a:r>
                    </a:p>
                  </a:txBody>
                  <a:tcPr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Users</a:t>
                      </a:r>
                    </a:p>
                  </a:txBody>
                  <a:tcPr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Funds</a:t>
                      </a:r>
                    </a:p>
                  </a:txBody>
                  <a:tcPr marT="25400" marB="2540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Helvetica Neue"/>
                        </a:rPr>
                        <a:t>UHNWI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€5,000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1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15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Helvetica Neue"/>
                        </a:rPr>
                        <a:t>SFO Core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€15,000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5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25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Helvetica Neue"/>
                        </a:rPr>
                        <a:t>SFO White Glove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€30,000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10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75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Helvetica Neue"/>
                        </a:rPr>
                        <a:t>MFO Platform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€50,000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15+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unlimited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Helvetica Neue"/>
                        </a:rPr>
                        <a:t>MFO White Glove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€75–100K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unlimited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unlimited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Helvetica Neue"/>
                        </a:rPr>
                        <a:t>Enterprise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€100–150K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unlimited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unlimited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1691640"/>
            <a:ext cx="3474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Helvetica Neue"/>
              </a:rPr>
              <a:t>•  Annual SaaS subscription by client type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Helvetica Neue"/>
              </a:rPr>
              <a:t>•  Add-ons: seats (€1.5–2K), funds (€200), family workspaces (€4–6K)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Helvetica Neue"/>
              </a:rPr>
              <a:t>•  Pilot program: 6 mo free + infra cost, converts to paid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Helvetica Neue"/>
              </a:rPr>
              <a:t>•  Selling now: UHNWI, SFO Core, MFO Platform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334155"/>
                </a:solidFill>
                <a:latin typeface="Helvetica Neue"/>
              </a:rPr>
              <a:t>•  White Glove / Enterprise open 2028+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82512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64748B"/>
                </a:solidFill>
                <a:latin typeface="Helvetica Neue"/>
              </a:rPr>
              <a:t>Source: vault/business/pricing-tiers.md (EUR). Gross margin 80% → 96% as base scales.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384048"/>
            <a:ext cx="260604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DRAFT · from repo — validate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BUSINESS MODEL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Unit economics &amp; 5-year financials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45920"/>
          <a:ext cx="109728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1645920"/>
                <a:gridCol w="164592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2026</a:t>
                      </a:r>
                    </a:p>
                  </a:txBody>
                  <a:tcPr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2027</a:t>
                      </a:r>
                    </a:p>
                  </a:txBody>
                  <a:tcPr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2028</a:t>
                      </a:r>
                    </a:p>
                  </a:txBody>
                  <a:tcPr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2029</a:t>
                      </a:r>
                    </a:p>
                  </a:txBody>
                  <a:tcPr marT="25400" marB="254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Helvetica Neue"/>
                        </a:rPr>
                        <a:t>2030</a:t>
                      </a:r>
                    </a:p>
                  </a:txBody>
                  <a:tcPr marT="25400" marB="25400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Helvetica Neue"/>
                        </a:rPr>
                        <a:t>Net revenue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€8K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€110K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€556K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€2.09M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€4.94M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Helvetica Neue"/>
                        </a:rPr>
                        <a:t>Clients (EOY)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7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22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50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91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141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Helvetica Neue"/>
                        </a:rPr>
                        <a:t>Gross margin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80%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91%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94%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95%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96%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Helvetica Neue"/>
                        </a:rPr>
                        <a:t>EBIT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-€73K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-€239K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-€330K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-€89K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+€1.23M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Helvetica Neue"/>
                        </a:rPr>
                        <a:t>LTV : CAC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14.2x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37.7x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23.7x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20.0x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35.2x</a:t>
                      </a:r>
                    </a:p>
                  </a:txBody>
                  <a:tcPr marT="12700" marB="127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F172A"/>
                          </a:solidFill>
                          <a:latin typeface="Helvetica Neue"/>
                        </a:rPr>
                        <a:t>CAC payback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4 mo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4 mo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5 mo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7 mo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0F172A"/>
                          </a:solidFill>
                          <a:latin typeface="Helvetica Neue"/>
                        </a:rPr>
                        <a:t>5 mo</a:t>
                      </a:r>
                    </a:p>
                  </a:txBody>
                  <a:tcPr marT="12700" marB="127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846320"/>
            <a:ext cx="260604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484632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5010912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F172A"/>
                </a:solidFill>
                <a:latin typeface="Helvetica Neue"/>
              </a:rPr>
              <a:t>€4.94M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334155"/>
                </a:solidFill>
                <a:latin typeface="Helvetica Neue"/>
              </a:rPr>
              <a:t>2030 net revenue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4748B"/>
                </a:solidFill>
                <a:latin typeface="Helvetica Neue"/>
              </a:rPr>
              <a:t>from €8K in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4846320"/>
            <a:ext cx="260604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93008" y="484632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94176" y="5010912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F172A"/>
                </a:solidFill>
                <a:latin typeface="Helvetica Neue"/>
              </a:rPr>
              <a:t>&gt;14x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334155"/>
                </a:solidFill>
                <a:latin typeface="Helvetica Neue"/>
              </a:rPr>
              <a:t>LTV:CAC every year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4748B"/>
                </a:solidFill>
                <a:latin typeface="Helvetica Neue"/>
              </a:rPr>
              <a:t>capital-efficient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4846320"/>
            <a:ext cx="2606040" cy="1371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45936" y="4846320"/>
            <a:ext cx="2606040" cy="640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5010912"/>
            <a:ext cx="2240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0F172A"/>
                </a:solidFill>
                <a:latin typeface="Helvetica Neue"/>
              </a:rPr>
              <a:t>25%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334155"/>
                </a:solidFill>
                <a:latin typeface="Helvetica Neue"/>
              </a:rPr>
              <a:t>2030 EBIT margin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64748B"/>
                </a:solidFill>
                <a:latin typeface="Helvetica Neue"/>
              </a:rPr>
              <a:t>profitable at scale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65615" y="384048"/>
            <a:ext cx="260604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DRAFT · from repo — validate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GTM · TARGET CUSTOMERS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Go-to-market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0F172A"/>
                </a:solidFill>
                <a:latin typeface="Helvetica Neue"/>
              </a:rPr>
              <a:t>Target customers (have):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      –  Single &amp; multi-family offices, LPs, advisory teams — EU-first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      –  Beachhead: lean MFO/SFO teams drowning in GP paperwork</a:t>
            </a:r>
          </a:p>
          <a:p>
            <a:pPr>
              <a:spcAft>
                <a:spcPts val="700"/>
              </a:spcAft>
            </a:pPr>
            <a:r>
              <a:rPr sz="1250" b="1">
                <a:solidFill>
                  <a:srgbClr val="0F172A"/>
                </a:solidFill>
                <a:latin typeface="Helvetica Neue"/>
              </a:rPr>
              <a:t>Motion so far (have):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      –  Pilot partner program → warm intros to FO network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      –  Founder-led sales; bi-weekly pilot touchpoints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50" b="1">
                <a:solidFill>
                  <a:srgbClr val="DC2626"/>
                </a:solidFill>
                <a:latin typeface="Helvetica Neue"/>
              </a:rPr>
              <a:t>Scale-up GTM (TEAM to complete):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      –  Channel strategy: outbound, partnerships, FO networks, events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      –  Sales cycle length &amp; conversion by tier (fill from pilot data)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      –  Geographic expansion sequence beyond EU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      –  CAC by channel &amp; payback targets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      –  Referral / network-effect loops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42855" y="384048"/>
            <a:ext cx="1828800" cy="384048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TEAM TO COMPLETE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FUTURE DEVELOPMENT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Product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66160" cy="5029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73736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Helvetica Neue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Ingestion pipeline (16+ types)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Dashboard &amp; analytics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Monte Carlo forecasting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Daily briefing &amp; alerts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7 pilots live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691640"/>
            <a:ext cx="3566160" cy="5029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3736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Helvetica Neue"/>
              </a:rPr>
              <a:t>NEXT (6–12 mo)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37744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Fee / waterfall / carry verification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ILPA v2.0 performance logic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Pacing &amp; commitment engine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EU compliance (AIFMD/SFDR/DORA)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Convert pilots → paid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691640"/>
            <a:ext cx="3566160" cy="50292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1737360"/>
            <a:ext cx="3200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Helvetica Neue"/>
              </a:rPr>
              <a:t>LATER (12–24 mo)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0456" y="2377440"/>
            <a:ext cx="3429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Portfolio-company KPI pages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Benchmarking &amp; PME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White-Glove &amp; Enterprise tiers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Geographic expansion</a:t>
            </a:r>
          </a:p>
          <a:p>
            <a:pPr>
              <a:spcAft>
                <a:spcPts val="700"/>
              </a:spcAft>
            </a:pPr>
            <a:r>
              <a:rPr sz="1150" b="0">
                <a:solidFill>
                  <a:srgbClr val="334155"/>
                </a:solidFill>
                <a:latin typeface="Helvetica Neue"/>
              </a:rPr>
              <a:t>•  [TEAM: prioritize]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65615" y="384048"/>
            <a:ext cx="260604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DRAFT · from repo — validate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411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"/>
            <a:ext cx="96926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EEAD4"/>
                </a:solidFill>
                <a:latin typeface="Helvetica Neue"/>
              </a:rPr>
              <a:t>THE ASK</a:t>
            </a:r>
          </a:p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Helvetica Neue"/>
              </a:rPr>
              <a:t>Funding requirements &amp; use of funds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5212080" cy="2834640"/>
          </a:xfrm>
          <a:prstGeom prst="round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6634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FFFFFF"/>
                </a:solidFill>
                <a:latin typeface="Helvetica Neue"/>
              </a:rPr>
              <a:t>Raising: €300K pre-seed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CBD5E1"/>
                </a:solidFill>
                <a:latin typeface="Helvetica Neue"/>
              </a:rPr>
              <a:t>23 months runway to prove product-market fit</a:t>
            </a:r>
          </a:p>
          <a:p>
            <a:pPr algn="l">
              <a:spcAft>
                <a:spcPts val="500"/>
              </a:spcAft>
            </a:pPr>
            <a:r>
              <a:rPr sz="600" b="0">
                <a:solidFill>
                  <a:srgbClr val="CBD5E1"/>
                </a:solidFill>
                <a:latin typeface="Helvetica Neue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800" b="1">
                <a:solidFill>
                  <a:srgbClr val="5EEAD4"/>
                </a:solidFill>
                <a:latin typeface="Helvetica Neue"/>
              </a:rPr>
              <a:t>Then: €750K seed (mid-2027)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CBD5E1"/>
                </a:solidFill>
                <a:latin typeface="Helvetica Neue"/>
              </a:rPr>
              <a:t>→ self-sustaining profitability by 2030 with €1.4M in the bank</a:t>
            </a:r>
          </a:p>
          <a:p>
            <a:pPr algn="l">
              <a:spcAft>
                <a:spcPts val="500"/>
              </a:spcAft>
            </a:pPr>
            <a:r>
              <a:rPr sz="1250" b="1">
                <a:solidFill>
                  <a:srgbClr val="CBD5E1"/>
                </a:solidFill>
                <a:latin typeface="Helvetica Neue"/>
              </a:rPr>
              <a:t>Total dilutive capital to breakeven: ~€1M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1">
                <a:solidFill>
                  <a:srgbClr val="5EEAD4"/>
                </a:solidFill>
                <a:latin typeface="Helvetica Neue"/>
              </a:rPr>
              <a:t>Use of pre-seed funds: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BD5E1"/>
                </a:solidFill>
                <a:latin typeface="Helvetica Neue"/>
              </a:rPr>
              <a:t>      –  Product development &amp; engineering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BD5E1"/>
                </a:solidFill>
                <a:latin typeface="Helvetica Neue"/>
              </a:rPr>
              <a:t>      –  First 3 hires (eng + customer success)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BD5E1"/>
                </a:solidFill>
                <a:latin typeface="Helvetica Neue"/>
              </a:rPr>
              <a:t>      –  Pilot client onboarding &amp; conversion</a:t>
            </a:r>
          </a:p>
          <a:p>
            <a:pPr>
              <a:spcAft>
                <a:spcPts val="800"/>
              </a:spcAft>
            </a:pPr>
            <a:r>
              <a:rPr sz="1200" b="0">
                <a:solidFill>
                  <a:srgbClr val="CBD5E1"/>
                </a:solidFill>
                <a:latin typeface="Helvetica Neue"/>
              </a:rPr>
              <a:t>      –  Cloud infra (partly covered by Google Cloud credits)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548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CBD5E1"/>
                </a:solidFill>
                <a:latin typeface="Helvetica Neue"/>
              </a:rPr>
              <a:t>Monthly burn: €3K (2026 H1) → €20K (2027) → cash-positive 2030. </a:t>
            </a:r>
            <a:r>
              <a:rPr sz="1250" b="1">
                <a:solidFill>
                  <a:srgbClr val="D97706"/>
                </a:solidFill>
                <a:latin typeface="Helvetica Neue"/>
              </a:rPr>
              <a:t>TEAM: confirm the current ask amount, valuation, and instrument (SAFE / equity) before pitching.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65615" y="384048"/>
            <a:ext cx="260604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Helvetica Neue"/>
              </a:rPr>
              <a:t>DRAFT · from repo — validate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000" b="1">
                <a:solidFill>
                  <a:srgbClr val="FFFFFF"/>
                </a:solidFill>
                <a:latin typeface="Helvetica Neue"/>
              </a:rPr>
              <a:t>OneLP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5EEAD4"/>
                </a:solidFill>
                <a:latin typeface="Helvetica Neue"/>
              </a:rPr>
              <a:t>The data-driven operating system for private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CBD5E1"/>
                </a:solidFill>
                <a:latin typeface="Helvetica Neue"/>
              </a:rPr>
              <a:t>Live product · 7 pilots · €5B+ AUM · evaluated to F1 0.968, forecast MAE 5.0%, latency P50 24s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CBD5E1"/>
                </a:solidFill>
                <a:latin typeface="Helvetica Neue"/>
              </a:rPr>
              <a:t>Built on real AI, validated with real clients, measured against real targets.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Helvetica Neue"/>
              </a:rPr>
              <a:t>Thank you  ·  Questions?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64748B"/>
                </a:solidFill>
                <a:latin typeface="Helvetica Neue"/>
              </a:rPr>
              <a:t>Kishan · Max · Sofia · Agustin   |   info@onelp.capital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